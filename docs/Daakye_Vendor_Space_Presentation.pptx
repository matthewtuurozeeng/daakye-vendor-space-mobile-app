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E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593F24"/>
          </a:solidFill>
          <a:ln w="12700">
            <a:solidFill>
              <a:srgbClr val="593F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365760"/>
            <a:ext cx="73152" cy="73152"/>
          </a:xfrm>
          <a:prstGeom prst="ellipse">
            <a:avLst/>
          </a:prstGeom>
          <a:solidFill>
            <a:srgbClr val="734A3B">
              <a:alpha val="50000"/>
            </a:srgbClr>
          </a:solidFill>
          <a:ln w="12700">
            <a:solidFill>
              <a:srgbClr val="734A3B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6968" y="365760"/>
            <a:ext cx="73152" cy="73152"/>
          </a:xfrm>
          <a:prstGeom prst="ellipse">
            <a:avLst/>
          </a:prstGeom>
          <a:solidFill>
            <a:srgbClr val="734A3B">
              <a:alpha val="50000"/>
            </a:srgbClr>
          </a:solidFill>
          <a:ln w="12700">
            <a:solidFill>
              <a:srgbClr val="734A3B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53896" y="365760"/>
            <a:ext cx="73152" cy="73152"/>
          </a:xfrm>
          <a:prstGeom prst="ellipse">
            <a:avLst/>
          </a:prstGeom>
          <a:solidFill>
            <a:srgbClr val="734A3B">
              <a:alpha val="50000"/>
            </a:srgbClr>
          </a:solidFill>
          <a:ln w="12700">
            <a:solidFill>
              <a:srgbClr val="734A3B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20824" y="365760"/>
            <a:ext cx="73152" cy="73152"/>
          </a:xfrm>
          <a:prstGeom prst="ellipse">
            <a:avLst/>
          </a:prstGeom>
          <a:solidFill>
            <a:srgbClr val="734A3B">
              <a:alpha val="50000"/>
            </a:srgbClr>
          </a:solidFill>
          <a:ln w="12700">
            <a:solidFill>
              <a:srgbClr val="734A3B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87752" y="365760"/>
            <a:ext cx="73152" cy="73152"/>
          </a:xfrm>
          <a:prstGeom prst="ellipse">
            <a:avLst/>
          </a:prstGeom>
          <a:solidFill>
            <a:srgbClr val="734A3B">
              <a:alpha val="50000"/>
            </a:srgbClr>
          </a:solidFill>
          <a:ln w="12700">
            <a:solidFill>
              <a:srgbClr val="734A3B">
                <a:alpha val="5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170432"/>
            <a:ext cx="73152" cy="73152"/>
          </a:xfrm>
          <a:prstGeom prst="ellipse">
            <a:avLst/>
          </a:prstGeom>
          <a:solidFill>
            <a:srgbClr val="734A3B">
              <a:alpha val="50000"/>
            </a:srgbClr>
          </a:solidFill>
          <a:ln w="12700">
            <a:solidFill>
              <a:srgbClr val="734A3B">
                <a:alpha val="5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86968" y="1170432"/>
            <a:ext cx="73152" cy="73152"/>
          </a:xfrm>
          <a:prstGeom prst="ellipse">
            <a:avLst/>
          </a:prstGeom>
          <a:solidFill>
            <a:srgbClr val="734A3B">
              <a:alpha val="50000"/>
            </a:srgbClr>
          </a:solidFill>
          <a:ln w="12700">
            <a:solidFill>
              <a:srgbClr val="734A3B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53896" y="1170432"/>
            <a:ext cx="73152" cy="73152"/>
          </a:xfrm>
          <a:prstGeom prst="ellipse">
            <a:avLst/>
          </a:prstGeom>
          <a:solidFill>
            <a:srgbClr val="734A3B">
              <a:alpha val="50000"/>
            </a:srgbClr>
          </a:solidFill>
          <a:ln w="12700">
            <a:solidFill>
              <a:srgbClr val="734A3B">
                <a:alpha val="5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20824" y="1170432"/>
            <a:ext cx="73152" cy="73152"/>
          </a:xfrm>
          <a:prstGeom prst="ellipse">
            <a:avLst/>
          </a:prstGeom>
          <a:solidFill>
            <a:srgbClr val="734A3B">
              <a:alpha val="50000"/>
            </a:srgbClr>
          </a:solidFill>
          <a:ln w="12700">
            <a:solidFill>
              <a:srgbClr val="734A3B">
                <a:alpha val="5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87752" y="1170432"/>
            <a:ext cx="73152" cy="73152"/>
          </a:xfrm>
          <a:prstGeom prst="ellipse">
            <a:avLst/>
          </a:prstGeom>
          <a:solidFill>
            <a:srgbClr val="734A3B">
              <a:alpha val="50000"/>
            </a:srgbClr>
          </a:solidFill>
          <a:ln w="12700">
            <a:solidFill>
              <a:srgbClr val="734A3B">
                <a:alpha val="5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1975104"/>
            <a:ext cx="73152" cy="73152"/>
          </a:xfrm>
          <a:prstGeom prst="ellipse">
            <a:avLst/>
          </a:prstGeom>
          <a:solidFill>
            <a:srgbClr val="734A3B">
              <a:alpha val="50000"/>
            </a:srgbClr>
          </a:solidFill>
          <a:ln w="12700">
            <a:solidFill>
              <a:srgbClr val="734A3B">
                <a:alpha val="5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86968" y="1975104"/>
            <a:ext cx="73152" cy="73152"/>
          </a:xfrm>
          <a:prstGeom prst="ellipse">
            <a:avLst/>
          </a:prstGeom>
          <a:solidFill>
            <a:srgbClr val="734A3B">
              <a:alpha val="50000"/>
            </a:srgbClr>
          </a:solidFill>
          <a:ln w="12700">
            <a:solidFill>
              <a:srgbClr val="734A3B">
                <a:alpha val="5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453896" y="1975104"/>
            <a:ext cx="73152" cy="73152"/>
          </a:xfrm>
          <a:prstGeom prst="ellipse">
            <a:avLst/>
          </a:prstGeom>
          <a:solidFill>
            <a:srgbClr val="734A3B">
              <a:alpha val="50000"/>
            </a:srgbClr>
          </a:solidFill>
          <a:ln w="12700">
            <a:solidFill>
              <a:srgbClr val="734A3B">
                <a:alpha val="5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20824" y="1975104"/>
            <a:ext cx="73152" cy="73152"/>
          </a:xfrm>
          <a:prstGeom prst="ellipse">
            <a:avLst/>
          </a:prstGeom>
          <a:solidFill>
            <a:srgbClr val="734A3B">
              <a:alpha val="50000"/>
            </a:srgbClr>
          </a:solidFill>
          <a:ln w="12700">
            <a:solidFill>
              <a:srgbClr val="734A3B">
                <a:alpha val="5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87752" y="1975104"/>
            <a:ext cx="73152" cy="73152"/>
          </a:xfrm>
          <a:prstGeom prst="ellipse">
            <a:avLst/>
          </a:prstGeom>
          <a:solidFill>
            <a:srgbClr val="734A3B">
              <a:alpha val="50000"/>
            </a:srgbClr>
          </a:solidFill>
          <a:ln w="12700">
            <a:solidFill>
              <a:srgbClr val="734A3B">
                <a:alpha val="5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779776"/>
            <a:ext cx="73152" cy="73152"/>
          </a:xfrm>
          <a:prstGeom prst="ellipse">
            <a:avLst/>
          </a:prstGeom>
          <a:solidFill>
            <a:srgbClr val="734A3B">
              <a:alpha val="50000"/>
            </a:srgbClr>
          </a:solidFill>
          <a:ln w="12700">
            <a:solidFill>
              <a:srgbClr val="734A3B">
                <a:alpha val="5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86968" y="2779776"/>
            <a:ext cx="73152" cy="73152"/>
          </a:xfrm>
          <a:prstGeom prst="ellipse">
            <a:avLst/>
          </a:prstGeom>
          <a:solidFill>
            <a:srgbClr val="734A3B">
              <a:alpha val="50000"/>
            </a:srgbClr>
          </a:solidFill>
          <a:ln w="12700">
            <a:solidFill>
              <a:srgbClr val="734A3B">
                <a:alpha val="5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453896" y="2779776"/>
            <a:ext cx="73152" cy="73152"/>
          </a:xfrm>
          <a:prstGeom prst="ellipse">
            <a:avLst/>
          </a:prstGeom>
          <a:solidFill>
            <a:srgbClr val="734A3B">
              <a:alpha val="50000"/>
            </a:srgbClr>
          </a:solidFill>
          <a:ln w="12700">
            <a:solidFill>
              <a:srgbClr val="734A3B">
                <a:alpha val="5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20824" y="2779776"/>
            <a:ext cx="73152" cy="73152"/>
          </a:xfrm>
          <a:prstGeom prst="ellipse">
            <a:avLst/>
          </a:prstGeom>
          <a:solidFill>
            <a:srgbClr val="734A3B">
              <a:alpha val="50000"/>
            </a:srgbClr>
          </a:solidFill>
          <a:ln w="12700">
            <a:solidFill>
              <a:srgbClr val="734A3B">
                <a:alpha val="5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87752" y="2779776"/>
            <a:ext cx="73152" cy="73152"/>
          </a:xfrm>
          <a:prstGeom prst="ellipse">
            <a:avLst/>
          </a:prstGeom>
          <a:solidFill>
            <a:srgbClr val="734A3B">
              <a:alpha val="50000"/>
            </a:srgbClr>
          </a:solidFill>
          <a:ln w="12700">
            <a:solidFill>
              <a:srgbClr val="734A3B">
                <a:alpha val="5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3584448"/>
            <a:ext cx="73152" cy="73152"/>
          </a:xfrm>
          <a:prstGeom prst="ellipse">
            <a:avLst/>
          </a:prstGeom>
          <a:solidFill>
            <a:srgbClr val="734A3B">
              <a:alpha val="50000"/>
            </a:srgbClr>
          </a:solidFill>
          <a:ln w="12700">
            <a:solidFill>
              <a:srgbClr val="734A3B">
                <a:alpha val="5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86968" y="3584448"/>
            <a:ext cx="73152" cy="73152"/>
          </a:xfrm>
          <a:prstGeom prst="ellipse">
            <a:avLst/>
          </a:prstGeom>
          <a:solidFill>
            <a:srgbClr val="734A3B">
              <a:alpha val="50000"/>
            </a:srgbClr>
          </a:solidFill>
          <a:ln w="12700">
            <a:solidFill>
              <a:srgbClr val="734A3B">
                <a:alpha val="5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453896" y="3584448"/>
            <a:ext cx="73152" cy="73152"/>
          </a:xfrm>
          <a:prstGeom prst="ellipse">
            <a:avLst/>
          </a:prstGeom>
          <a:solidFill>
            <a:srgbClr val="734A3B">
              <a:alpha val="50000"/>
            </a:srgbClr>
          </a:solidFill>
          <a:ln w="12700">
            <a:solidFill>
              <a:srgbClr val="734A3B">
                <a:alpha val="5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020824" y="3584448"/>
            <a:ext cx="73152" cy="73152"/>
          </a:xfrm>
          <a:prstGeom prst="ellipse">
            <a:avLst/>
          </a:prstGeom>
          <a:solidFill>
            <a:srgbClr val="734A3B">
              <a:alpha val="50000"/>
            </a:srgbClr>
          </a:solidFill>
          <a:ln w="12700">
            <a:solidFill>
              <a:srgbClr val="734A3B">
                <a:alpha val="5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87752" y="3584448"/>
            <a:ext cx="73152" cy="73152"/>
          </a:xfrm>
          <a:prstGeom prst="ellipse">
            <a:avLst/>
          </a:prstGeom>
          <a:solidFill>
            <a:srgbClr val="734A3B">
              <a:alpha val="50000"/>
            </a:srgbClr>
          </a:solidFill>
          <a:ln w="12700">
            <a:solidFill>
              <a:srgbClr val="734A3B">
                <a:alpha val="5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" y="4389120"/>
            <a:ext cx="73152" cy="73152"/>
          </a:xfrm>
          <a:prstGeom prst="ellipse">
            <a:avLst/>
          </a:prstGeom>
          <a:solidFill>
            <a:srgbClr val="734A3B">
              <a:alpha val="50000"/>
            </a:srgbClr>
          </a:solidFill>
          <a:ln w="12700">
            <a:solidFill>
              <a:srgbClr val="734A3B">
                <a:alpha val="5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86968" y="4389120"/>
            <a:ext cx="73152" cy="73152"/>
          </a:xfrm>
          <a:prstGeom prst="ellipse">
            <a:avLst/>
          </a:prstGeom>
          <a:solidFill>
            <a:srgbClr val="734A3B">
              <a:alpha val="50000"/>
            </a:srgbClr>
          </a:solidFill>
          <a:ln w="12700">
            <a:solidFill>
              <a:srgbClr val="734A3B">
                <a:alpha val="5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453896" y="4389120"/>
            <a:ext cx="73152" cy="73152"/>
          </a:xfrm>
          <a:prstGeom prst="ellipse">
            <a:avLst/>
          </a:prstGeom>
          <a:solidFill>
            <a:srgbClr val="734A3B">
              <a:alpha val="50000"/>
            </a:srgbClr>
          </a:solidFill>
          <a:ln w="12700">
            <a:solidFill>
              <a:srgbClr val="734A3B">
                <a:alpha val="5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020824" y="4389120"/>
            <a:ext cx="73152" cy="73152"/>
          </a:xfrm>
          <a:prstGeom prst="ellipse">
            <a:avLst/>
          </a:prstGeom>
          <a:solidFill>
            <a:srgbClr val="734A3B">
              <a:alpha val="50000"/>
            </a:srgbClr>
          </a:solidFill>
          <a:ln w="12700">
            <a:solidFill>
              <a:srgbClr val="734A3B">
                <a:alpha val="5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87752" y="4389120"/>
            <a:ext cx="73152" cy="73152"/>
          </a:xfrm>
          <a:prstGeom prst="ellipse">
            <a:avLst/>
          </a:prstGeom>
          <a:solidFill>
            <a:srgbClr val="734A3B">
              <a:alpha val="50000"/>
            </a:srgbClr>
          </a:solidFill>
          <a:ln w="12700">
            <a:solidFill>
              <a:srgbClr val="734A3B">
                <a:alpha val="5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474720" y="0"/>
            <a:ext cx="73152" cy="5143500"/>
          </a:xfrm>
          <a:prstGeom prst="rect">
            <a:avLst/>
          </a:prstGeom>
          <a:solidFill>
            <a:srgbClr val="734A3B"/>
          </a:solidFill>
          <a:ln w="12700">
            <a:solidFill>
              <a:srgbClr val="734A3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8600" y="10972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DAAKYE</a:t>
            </a:r>
            <a:endParaRPr lang="en-US" sz="4200" dirty="0"/>
          </a:p>
        </p:txBody>
      </p:sp>
      <p:sp>
        <p:nvSpPr>
          <p:cNvPr id="35" name="Text 33"/>
          <p:cNvSpPr/>
          <p:nvPr/>
        </p:nvSpPr>
        <p:spPr>
          <a:xfrm>
            <a:off x="228600" y="17830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500" kern="0" dirty="0">
                <a:solidFill>
                  <a:srgbClr val="734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SPACE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731520" y="2331720"/>
            <a:ext cx="2011680" cy="36576"/>
          </a:xfrm>
          <a:prstGeom prst="rect">
            <a:avLst/>
          </a:prstGeom>
          <a:solidFill>
            <a:srgbClr val="BDB0A8"/>
          </a:solidFill>
          <a:ln w="12700">
            <a:solidFill>
              <a:srgbClr val="BDB0A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8600" y="24688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BD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Platform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3840480" y="146304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Comprehensive Project Write-Up,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Design Overview &amp;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 Roadmap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3840480" y="2697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D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Digitizing informal retail for Ghanaian vendors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547872" y="4389120"/>
            <a:ext cx="5596128" cy="754380"/>
          </a:xfrm>
          <a:prstGeom prst="rect">
            <a:avLst/>
          </a:prstGeom>
          <a:solidFill>
            <a:srgbClr val="734A3B"/>
          </a:solidFill>
          <a:ln w="12700">
            <a:solidFill>
              <a:srgbClr val="734A3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749040" y="448056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Document  |  2025</a:t>
            </a:r>
            <a:endParaRPr lang="en-US" sz="1100" dirty="0"/>
          </a:p>
        </p:txBody>
      </p:sp>
      <p:pic>
        <p:nvPicPr>
          <p:cNvPr id="4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0" y="457200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6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22E16"/>
          </a:solidFill>
          <a:ln w="12700">
            <a:solidFill>
              <a:srgbClr val="122E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2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93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1124712"/>
            <a:ext cx="54864" cy="2926080"/>
          </a:xfrm>
          <a:prstGeom prst="rect">
            <a:avLst/>
          </a:prstGeom>
          <a:solidFill>
            <a:srgbClr val="734A3B"/>
          </a:solidFill>
          <a:ln w="12700">
            <a:solidFill>
              <a:srgbClr val="734A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188720"/>
            <a:ext cx="5943600" cy="29260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inventory and sales management system for small and medium-scale vendors in Ghanaian local markets.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Digitizes daily operations currently handled via handwritten notebooks, manual stock counts, and paper-based records.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Lightweight, affordable, scalable — optimized for low-end Android devices and low-connectivity environments.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vendors to manage inventory, record sales, track revenue, receive alerts, and analyze business performance.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675120" y="1005840"/>
            <a:ext cx="2103120" cy="3108960"/>
          </a:xfrm>
          <a:prstGeom prst="rect">
            <a:avLst/>
          </a:prstGeom>
          <a:solidFill>
            <a:srgbClr val="593F24"/>
          </a:solidFill>
          <a:ln w="6350">
            <a:solidFill>
              <a:srgbClr val="EDE5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766560" y="10972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BD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FOCUS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812280" y="1554480"/>
            <a:ext cx="201168" cy="201168"/>
          </a:xfrm>
          <a:prstGeom prst="ellipse">
            <a:avLst/>
          </a:prstGeom>
          <a:solidFill>
            <a:srgbClr val="734A3B"/>
          </a:solidFill>
          <a:ln w="12700">
            <a:solidFill>
              <a:srgbClr val="734A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86600" y="153619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12280" y="2121408"/>
            <a:ext cx="201168" cy="201168"/>
          </a:xfrm>
          <a:prstGeom prst="ellipse">
            <a:avLst/>
          </a:prstGeom>
          <a:solidFill>
            <a:srgbClr val="734A3B"/>
          </a:solidFill>
          <a:ln w="12700">
            <a:solidFill>
              <a:srgbClr val="734A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86600" y="210312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Affordability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12280" y="2688336"/>
            <a:ext cx="201168" cy="201168"/>
          </a:xfrm>
          <a:prstGeom prst="ellipse">
            <a:avLst/>
          </a:prstGeom>
          <a:solidFill>
            <a:srgbClr val="734A3B"/>
          </a:solidFill>
          <a:ln w="12700">
            <a:solidFill>
              <a:srgbClr val="734A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86600" y="267004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data use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12280" y="3255264"/>
            <a:ext cx="201168" cy="201168"/>
          </a:xfrm>
          <a:prstGeom prst="ellipse">
            <a:avLst/>
          </a:prstGeom>
          <a:solidFill>
            <a:srgbClr val="734A3B"/>
          </a:solidFill>
          <a:ln w="12700">
            <a:solidFill>
              <a:srgbClr val="734A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86600" y="323697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support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22E16"/>
          </a:solidFill>
          <a:ln w="12700">
            <a:solidFill>
              <a:srgbClr val="122E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492861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D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Daakye Vendor Space  |  Introduction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593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734A3B"/>
          </a:solidFill>
          <a:ln w="12700">
            <a:solidFill>
              <a:srgbClr val="734A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D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Challenge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118872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 percentage of vendors in Ghanaian local markets operate without structured digital systems — creating recurring operational challenges: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920240"/>
            <a:ext cx="2468880" cy="566928"/>
          </a:xfrm>
          <a:prstGeom prst="rect">
            <a:avLst/>
          </a:prstGeom>
          <a:solidFill>
            <a:srgbClr val="734A3B"/>
          </a:solidFill>
          <a:ln w="6350">
            <a:solidFill>
              <a:srgbClr val="EDE5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920240"/>
            <a:ext cx="54864" cy="566928"/>
          </a:xfrm>
          <a:prstGeom prst="rect">
            <a:avLst/>
          </a:prstGeom>
          <a:solidFill>
            <a:srgbClr val="734A3B"/>
          </a:solidFill>
          <a:ln w="12700">
            <a:solidFill>
              <a:srgbClr val="8B63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920240"/>
            <a:ext cx="54864" cy="566928"/>
          </a:xfrm>
          <a:prstGeom prst="rect">
            <a:avLst/>
          </a:prstGeom>
          <a:solidFill>
            <a:srgbClr val="8B6355"/>
          </a:solidFill>
          <a:ln w="12700">
            <a:solidFill>
              <a:srgbClr val="8B63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02996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stockouts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54680" y="1920240"/>
            <a:ext cx="2468880" cy="566928"/>
          </a:xfrm>
          <a:prstGeom prst="rect">
            <a:avLst/>
          </a:prstGeom>
          <a:solidFill>
            <a:srgbClr val="734A3B"/>
          </a:solidFill>
          <a:ln w="6350">
            <a:solidFill>
              <a:srgbClr val="EDE5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1920240"/>
            <a:ext cx="54864" cy="566928"/>
          </a:xfrm>
          <a:prstGeom prst="rect">
            <a:avLst/>
          </a:prstGeom>
          <a:solidFill>
            <a:srgbClr val="734A3B"/>
          </a:solidFill>
          <a:ln w="12700">
            <a:solidFill>
              <a:srgbClr val="8B63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54680" y="1920240"/>
            <a:ext cx="54864" cy="566928"/>
          </a:xfrm>
          <a:prstGeom prst="rect">
            <a:avLst/>
          </a:prstGeom>
          <a:solidFill>
            <a:srgbClr val="8B6355"/>
          </a:solidFill>
          <a:ln w="12700">
            <a:solidFill>
              <a:srgbClr val="8B63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202996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Overstocking of slow-moving goods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2651760"/>
            <a:ext cx="2468880" cy="566928"/>
          </a:xfrm>
          <a:prstGeom prst="rect">
            <a:avLst/>
          </a:prstGeom>
          <a:solidFill>
            <a:srgbClr val="734A3B"/>
          </a:solidFill>
          <a:ln w="6350">
            <a:solidFill>
              <a:srgbClr val="EDE5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2651760"/>
            <a:ext cx="54864" cy="566928"/>
          </a:xfrm>
          <a:prstGeom prst="rect">
            <a:avLst/>
          </a:prstGeom>
          <a:solidFill>
            <a:srgbClr val="734A3B"/>
          </a:solidFill>
          <a:ln w="12700">
            <a:solidFill>
              <a:srgbClr val="8B63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2651760"/>
            <a:ext cx="54864" cy="566928"/>
          </a:xfrm>
          <a:prstGeom prst="rect">
            <a:avLst/>
          </a:prstGeom>
          <a:solidFill>
            <a:srgbClr val="8B6355"/>
          </a:solidFill>
          <a:ln w="12700">
            <a:solidFill>
              <a:srgbClr val="8B63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76148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Inaccurate sales records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154680" y="2651760"/>
            <a:ext cx="2468880" cy="566928"/>
          </a:xfrm>
          <a:prstGeom prst="rect">
            <a:avLst/>
          </a:prstGeom>
          <a:solidFill>
            <a:srgbClr val="734A3B"/>
          </a:solidFill>
          <a:ln w="6350">
            <a:solidFill>
              <a:srgbClr val="EDE5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154680" y="2651760"/>
            <a:ext cx="54864" cy="566928"/>
          </a:xfrm>
          <a:prstGeom prst="rect">
            <a:avLst/>
          </a:prstGeom>
          <a:solidFill>
            <a:srgbClr val="734A3B"/>
          </a:solidFill>
          <a:ln w="12700">
            <a:solidFill>
              <a:srgbClr val="8B63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54680" y="2651760"/>
            <a:ext cx="54864" cy="566928"/>
          </a:xfrm>
          <a:prstGeom prst="rect">
            <a:avLst/>
          </a:prstGeom>
          <a:solidFill>
            <a:srgbClr val="8B6355"/>
          </a:solidFill>
          <a:ln w="12700">
            <a:solidFill>
              <a:srgbClr val="8B63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91840" y="276148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Time-consuming reconciliation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11480" y="3383280"/>
            <a:ext cx="2468880" cy="566928"/>
          </a:xfrm>
          <a:prstGeom prst="rect">
            <a:avLst/>
          </a:prstGeom>
          <a:solidFill>
            <a:srgbClr val="734A3B"/>
          </a:solidFill>
          <a:ln w="6350">
            <a:solidFill>
              <a:srgbClr val="EDE5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11480" y="3383280"/>
            <a:ext cx="54864" cy="566928"/>
          </a:xfrm>
          <a:prstGeom prst="rect">
            <a:avLst/>
          </a:prstGeom>
          <a:solidFill>
            <a:srgbClr val="734A3B"/>
          </a:solidFill>
          <a:ln w="12700">
            <a:solidFill>
              <a:srgbClr val="8B63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" y="3383280"/>
            <a:ext cx="54864" cy="566928"/>
          </a:xfrm>
          <a:prstGeom prst="rect">
            <a:avLst/>
          </a:prstGeom>
          <a:solidFill>
            <a:srgbClr val="8B6355"/>
          </a:solidFill>
          <a:ln w="12700">
            <a:solidFill>
              <a:srgbClr val="8B63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49300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arithmetic errors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154680" y="3383280"/>
            <a:ext cx="2468880" cy="566928"/>
          </a:xfrm>
          <a:prstGeom prst="rect">
            <a:avLst/>
          </a:prstGeom>
          <a:solidFill>
            <a:srgbClr val="734A3B"/>
          </a:solidFill>
          <a:ln w="6350">
            <a:solidFill>
              <a:srgbClr val="EDE5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154680" y="3383280"/>
            <a:ext cx="54864" cy="566928"/>
          </a:xfrm>
          <a:prstGeom prst="rect">
            <a:avLst/>
          </a:prstGeom>
          <a:solidFill>
            <a:srgbClr val="734A3B"/>
          </a:solidFill>
          <a:ln w="12700">
            <a:solidFill>
              <a:srgbClr val="8B635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154680" y="3383280"/>
            <a:ext cx="54864" cy="566928"/>
          </a:xfrm>
          <a:prstGeom prst="rect">
            <a:avLst/>
          </a:prstGeom>
          <a:solidFill>
            <a:srgbClr val="8B6355"/>
          </a:solidFill>
          <a:ln w="12700">
            <a:solidFill>
              <a:srgbClr val="8B63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91840" y="349300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revenue tracking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11480" y="4114800"/>
            <a:ext cx="2468880" cy="566928"/>
          </a:xfrm>
          <a:prstGeom prst="rect">
            <a:avLst/>
          </a:prstGeom>
          <a:solidFill>
            <a:srgbClr val="734A3B"/>
          </a:solidFill>
          <a:ln w="6350">
            <a:solidFill>
              <a:srgbClr val="EDE5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11480" y="4114800"/>
            <a:ext cx="54864" cy="566928"/>
          </a:xfrm>
          <a:prstGeom prst="rect">
            <a:avLst/>
          </a:prstGeom>
          <a:solidFill>
            <a:srgbClr val="734A3B"/>
          </a:solidFill>
          <a:ln w="12700">
            <a:solidFill>
              <a:srgbClr val="8B635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11480" y="4114800"/>
            <a:ext cx="54864" cy="566928"/>
          </a:xfrm>
          <a:prstGeom prst="rect">
            <a:avLst/>
          </a:prstGeom>
          <a:solidFill>
            <a:srgbClr val="8B6355"/>
          </a:solidFill>
          <a:ln w="12700">
            <a:solidFill>
              <a:srgbClr val="8B63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422452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business insights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154680" y="4114800"/>
            <a:ext cx="2468880" cy="566928"/>
          </a:xfrm>
          <a:prstGeom prst="rect">
            <a:avLst/>
          </a:prstGeom>
          <a:solidFill>
            <a:srgbClr val="734A3B"/>
          </a:solidFill>
          <a:ln w="6350">
            <a:solidFill>
              <a:srgbClr val="EDE5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154680" y="4114800"/>
            <a:ext cx="54864" cy="566928"/>
          </a:xfrm>
          <a:prstGeom prst="rect">
            <a:avLst/>
          </a:prstGeom>
          <a:solidFill>
            <a:srgbClr val="734A3B"/>
          </a:solidFill>
          <a:ln w="12700">
            <a:solidFill>
              <a:srgbClr val="8B635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154680" y="4114800"/>
            <a:ext cx="54864" cy="566928"/>
          </a:xfrm>
          <a:prstGeom prst="rect">
            <a:avLst/>
          </a:prstGeom>
          <a:solidFill>
            <a:srgbClr val="8B6355"/>
          </a:solidFill>
          <a:ln w="12700">
            <a:solidFill>
              <a:srgbClr val="8B63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91840" y="422452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accessing loans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035040" y="1143000"/>
            <a:ext cx="2743200" cy="3749040"/>
          </a:xfrm>
          <a:prstGeom prst="rect">
            <a:avLst/>
          </a:prstGeom>
          <a:solidFill>
            <a:srgbClr val="122E16"/>
          </a:solidFill>
          <a:ln w="6350">
            <a:solidFill>
              <a:srgbClr val="EDE5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126480" y="12344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SHORT BECAUSE: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126480" y="1874520"/>
            <a:ext cx="2560320" cy="548640"/>
          </a:xfrm>
          <a:prstGeom prst="rect">
            <a:avLst/>
          </a:prstGeom>
          <a:solidFill>
            <a:srgbClr val="734A3B"/>
          </a:solidFill>
          <a:ln w="12700">
            <a:solidFill>
              <a:srgbClr val="734A3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17920" y="1901952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expensive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126480" y="2578608"/>
            <a:ext cx="2560320" cy="548640"/>
          </a:xfrm>
          <a:prstGeom prst="rect">
            <a:avLst/>
          </a:prstGeom>
          <a:solidFill>
            <a:srgbClr val="734A3B"/>
          </a:solidFill>
          <a:ln w="12700">
            <a:solidFill>
              <a:srgbClr val="734A3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17920" y="2606040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Overly complex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126480" y="3282696"/>
            <a:ext cx="2560320" cy="548640"/>
          </a:xfrm>
          <a:prstGeom prst="rect">
            <a:avLst/>
          </a:prstGeom>
          <a:solidFill>
            <a:srgbClr val="734A3B"/>
          </a:solidFill>
          <a:ln w="12700">
            <a:solidFill>
              <a:srgbClr val="734A3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17920" y="3310128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Internet-dependent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126480" y="3986784"/>
            <a:ext cx="2560320" cy="548640"/>
          </a:xfrm>
          <a:prstGeom prst="rect">
            <a:avLst/>
          </a:prstGeom>
          <a:solidFill>
            <a:srgbClr val="734A3B"/>
          </a:solidFill>
          <a:ln w="12700">
            <a:solidFill>
              <a:srgbClr val="734A3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17920" y="4014216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optimized for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African markets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5760" y="492861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D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Daakye Vendor Space  |  Problem Statement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6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22E16"/>
          </a:solidFill>
          <a:ln w="12700">
            <a:solidFill>
              <a:srgbClr val="122E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2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93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Daakye Vendor Space Platform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11704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modular, mobile-first inventory and sales management system that digitizes vendor operations while remaining simple, scalable, and accessible.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828800"/>
            <a:ext cx="260604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DE5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029968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202996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93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Inventory Tracking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46120" y="1828800"/>
            <a:ext cx="260604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DE5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2029968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886200" y="202996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93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Recording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080760" y="1828800"/>
            <a:ext cx="260604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DE5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029968"/>
            <a:ext cx="347472" cy="34747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720840" y="202996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93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Stock Deductions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411480" y="3200400"/>
            <a:ext cx="260604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DE5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401568"/>
            <a:ext cx="347472" cy="34747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51560" y="340156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93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Low-stock Alerts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3246120" y="3200400"/>
            <a:ext cx="260604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DE5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0" y="3401568"/>
            <a:ext cx="347472" cy="34747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3886200" y="340156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93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Analytics</a:t>
            </a:r>
            <a:endParaRPr lang="en-US" sz="1200" dirty="0"/>
          </a:p>
        </p:txBody>
      </p:sp>
      <p:sp>
        <p:nvSpPr>
          <p:cNvPr id="21" name="Shape 14"/>
          <p:cNvSpPr/>
          <p:nvPr/>
        </p:nvSpPr>
        <p:spPr>
          <a:xfrm>
            <a:off x="6080760" y="3200400"/>
            <a:ext cx="260604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DE5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640" y="3401568"/>
            <a:ext cx="347472" cy="347472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6720840" y="340156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93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History</a:t>
            </a:r>
            <a:endParaRPr lang="en-US" sz="1200" dirty="0"/>
          </a:p>
        </p:txBody>
      </p:sp>
      <p:sp>
        <p:nvSpPr>
          <p:cNvPr id="24" name="Shape 16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22E16"/>
          </a:solidFill>
          <a:ln w="12700">
            <a:solidFill>
              <a:srgbClr val="122E16"/>
            </a:solidFill>
            <a:prstDash val="solid"/>
          </a:ln>
        </p:spPr>
      </p:sp>
      <p:sp>
        <p:nvSpPr>
          <p:cNvPr id="25" name="Text 17"/>
          <p:cNvSpPr/>
          <p:nvPr/>
        </p:nvSpPr>
        <p:spPr>
          <a:xfrm>
            <a:off x="365760" y="492861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D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Daakye Vendor Space  |  Proposed Solution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734A3B"/>
          </a:solidFill>
          <a:ln w="12700">
            <a:solidFill>
              <a:srgbClr val="734A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34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 &amp; OBJECTIVES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93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We Serve &amp; What We Aim to Achieve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1170432"/>
            <a:ext cx="4023360" cy="3566160"/>
          </a:xfrm>
          <a:prstGeom prst="rect">
            <a:avLst/>
          </a:prstGeom>
          <a:solidFill>
            <a:srgbClr val="E6F4FF"/>
          </a:solidFill>
          <a:ln w="6350">
            <a:solidFill>
              <a:srgbClr val="EDE5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2618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2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66928" y="1664208"/>
            <a:ext cx="146304" cy="146304"/>
          </a:xfrm>
          <a:prstGeom prst="ellipse">
            <a:avLst/>
          </a:prstGeom>
          <a:solidFill>
            <a:srgbClr val="734A3B"/>
          </a:solidFill>
          <a:ln w="12700">
            <a:solidFill>
              <a:srgbClr val="734A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62763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3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vendors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2139696"/>
            <a:ext cx="146304" cy="146304"/>
          </a:xfrm>
          <a:prstGeom prst="ellipse">
            <a:avLst/>
          </a:prstGeom>
          <a:solidFill>
            <a:srgbClr val="734A3B"/>
          </a:solidFill>
          <a:ln w="12700">
            <a:solidFill>
              <a:srgbClr val="734A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21031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3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Kiosk operators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615184"/>
            <a:ext cx="146304" cy="146304"/>
          </a:xfrm>
          <a:prstGeom prst="ellipse">
            <a:avLst/>
          </a:prstGeom>
          <a:solidFill>
            <a:srgbClr val="734A3B"/>
          </a:solidFill>
          <a:ln w="12700">
            <a:solidFill>
              <a:srgbClr val="734A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257860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3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marts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6928" y="3090672"/>
            <a:ext cx="146304" cy="146304"/>
          </a:xfrm>
          <a:prstGeom prst="ellipse">
            <a:avLst/>
          </a:prstGeom>
          <a:solidFill>
            <a:srgbClr val="734A3B"/>
          </a:solidFill>
          <a:ln w="12700">
            <a:solidFill>
              <a:srgbClr val="734A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305409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3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retail shops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3566160"/>
            <a:ext cx="146304" cy="146304"/>
          </a:xfrm>
          <a:prstGeom prst="ellipse">
            <a:avLst/>
          </a:prstGeom>
          <a:solidFill>
            <a:srgbClr val="734A3B"/>
          </a:solidFill>
          <a:ln w="12700">
            <a:solidFill>
              <a:srgbClr val="734A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352958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3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Wholesalers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6928" y="4041648"/>
            <a:ext cx="146304" cy="146304"/>
          </a:xfrm>
          <a:prstGeom prst="ellipse">
            <a:avLst/>
          </a:prstGeom>
          <a:solidFill>
            <a:srgbClr val="734A3B"/>
          </a:solidFill>
          <a:ln w="12700">
            <a:solidFill>
              <a:srgbClr val="734A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" y="40050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3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store attendants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4526280"/>
            <a:ext cx="3840480" cy="137160"/>
          </a:xfrm>
          <a:prstGeom prst="rect">
            <a:avLst/>
          </a:prstGeom>
          <a:solidFill>
            <a:srgbClr val="734A3B">
              <a:alpha val="20000"/>
            </a:srgbClr>
          </a:solidFill>
          <a:ln w="12700">
            <a:solidFill>
              <a:srgbClr val="734A3B">
                <a:alpha val="2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66344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A6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digital literacy  •  Unstable internet  •  Low-cost Android devices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09160" y="1170432"/>
            <a:ext cx="4023360" cy="3566160"/>
          </a:xfrm>
          <a:prstGeom prst="rect">
            <a:avLst/>
          </a:prstGeom>
          <a:solidFill>
            <a:srgbClr val="F5F0EB"/>
          </a:solidFill>
          <a:ln w="6350">
            <a:solidFill>
              <a:srgbClr val="EDE5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00600" y="12618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2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00600" y="1664208"/>
            <a:ext cx="109728" cy="201168"/>
          </a:xfrm>
          <a:prstGeom prst="rect">
            <a:avLst/>
          </a:prstGeom>
          <a:solidFill>
            <a:srgbClr val="734A3B"/>
          </a:solidFill>
          <a:ln w="12700">
            <a:solidFill>
              <a:srgbClr val="734A3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10912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3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Digitize inventory management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00600" y="2139696"/>
            <a:ext cx="109728" cy="201168"/>
          </a:xfrm>
          <a:prstGeom prst="rect">
            <a:avLst/>
          </a:prstGeom>
          <a:solidFill>
            <a:srgbClr val="734A3B"/>
          </a:solidFill>
          <a:ln w="12700">
            <a:solidFill>
              <a:srgbClr val="734A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10912" y="21214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3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Simplify sales recording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00600" y="2615184"/>
            <a:ext cx="109728" cy="201168"/>
          </a:xfrm>
          <a:prstGeom prst="rect">
            <a:avLst/>
          </a:prstGeom>
          <a:solidFill>
            <a:srgbClr val="734A3B"/>
          </a:solidFill>
          <a:ln w="12700">
            <a:solidFill>
              <a:srgbClr val="734A3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10912" y="259689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3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stock deductions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00600" y="3090672"/>
            <a:ext cx="109728" cy="201168"/>
          </a:xfrm>
          <a:prstGeom prst="rect">
            <a:avLst/>
          </a:prstGeom>
          <a:solidFill>
            <a:srgbClr val="734A3B"/>
          </a:solidFill>
          <a:ln w="12700">
            <a:solidFill>
              <a:srgbClr val="734A3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10912" y="307238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3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business decision-making via analytics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00600" y="3566160"/>
            <a:ext cx="109728" cy="201168"/>
          </a:xfrm>
          <a:prstGeom prst="rect">
            <a:avLst/>
          </a:prstGeom>
          <a:solidFill>
            <a:srgbClr val="734A3B"/>
          </a:solidFill>
          <a:ln w="12700">
            <a:solidFill>
              <a:srgbClr val="734A3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10912" y="35478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3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offline-capable operations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800600" y="4041648"/>
            <a:ext cx="109728" cy="201168"/>
          </a:xfrm>
          <a:prstGeom prst="rect">
            <a:avLst/>
          </a:prstGeom>
          <a:solidFill>
            <a:srgbClr val="734A3B"/>
          </a:solidFill>
          <a:ln w="12700">
            <a:solidFill>
              <a:srgbClr val="734A3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10912" y="40233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3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transaction histories for financial inclusion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734A3B"/>
          </a:solidFill>
          <a:ln w="12700">
            <a:solidFill>
              <a:srgbClr val="734A3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92861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Daakye Vendor Space  |  Target Users &amp; Objectives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2E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734A3B"/>
          </a:solidFill>
          <a:ln w="12700">
            <a:solidFill>
              <a:srgbClr val="734A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D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Modular Monolith Architecture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1920240" cy="2286000"/>
          </a:xfrm>
          <a:prstGeom prst="rect">
            <a:avLst/>
          </a:prstGeom>
          <a:solidFill>
            <a:srgbClr val="734A3B"/>
          </a:solidFill>
          <a:ln w="6350">
            <a:solidFill>
              <a:srgbClr val="EDE5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444752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1993392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 Native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Mobile App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11480" y="26060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BD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· Expo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240280" y="2395728"/>
            <a:ext cx="228600" cy="54864"/>
          </a:xfrm>
          <a:prstGeom prst="rect">
            <a:avLst/>
          </a:prstGeom>
          <a:solidFill>
            <a:srgbClr val="BDB0A8"/>
          </a:solidFill>
          <a:ln w="12700">
            <a:solidFill>
              <a:srgbClr val="BDB0A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468880" y="1325880"/>
            <a:ext cx="1920240" cy="2286000"/>
          </a:xfrm>
          <a:prstGeom prst="rect">
            <a:avLst/>
          </a:prstGeom>
          <a:solidFill>
            <a:srgbClr val="1A4A20"/>
          </a:solidFill>
          <a:ln w="6350">
            <a:solidFill>
              <a:srgbClr val="EDE5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444752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560320" y="1993392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REST API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Layer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2560320" y="26060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BD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· Express.js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4389120" y="2395728"/>
            <a:ext cx="228600" cy="54864"/>
          </a:xfrm>
          <a:prstGeom prst="rect">
            <a:avLst/>
          </a:prstGeom>
          <a:solidFill>
            <a:srgbClr val="BDB0A8"/>
          </a:solidFill>
          <a:ln w="12700">
            <a:solidFill>
              <a:srgbClr val="BDB0A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617720" y="1325880"/>
            <a:ext cx="1920240" cy="2286000"/>
          </a:xfrm>
          <a:prstGeom prst="rect">
            <a:avLst/>
          </a:prstGeom>
          <a:solidFill>
            <a:srgbClr val="593F24"/>
          </a:solidFill>
          <a:ln w="6350">
            <a:solidFill>
              <a:srgbClr val="EDE5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0" y="1444752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709160" y="1993392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4709160" y="26060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BD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· Inventory · Sales · Analytics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6537960" y="2395728"/>
            <a:ext cx="228600" cy="54864"/>
          </a:xfrm>
          <a:prstGeom prst="rect">
            <a:avLst/>
          </a:prstGeom>
          <a:solidFill>
            <a:srgbClr val="BDB0A8"/>
          </a:solidFill>
          <a:ln w="12700">
            <a:solidFill>
              <a:srgbClr val="BDB0A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766560" y="1325880"/>
            <a:ext cx="1920240" cy="2286000"/>
          </a:xfrm>
          <a:prstGeom prst="rect">
            <a:avLst/>
          </a:prstGeom>
          <a:solidFill>
            <a:srgbClr val="2C5030"/>
          </a:solidFill>
          <a:ln w="6350">
            <a:solidFill>
              <a:srgbClr val="EDE5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0" y="1444752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858000" y="1993392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MongoDB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Atlas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6858000" y="26060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BD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Database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320040" y="3840480"/>
            <a:ext cx="2743200" cy="594360"/>
          </a:xfrm>
          <a:prstGeom prst="rect">
            <a:avLst/>
          </a:prstGeom>
          <a:solidFill>
            <a:srgbClr val="734A3B"/>
          </a:solidFill>
          <a:ln w="12700">
            <a:solidFill>
              <a:srgbClr val="734A3B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411480" y="385876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 deployment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3246120" y="3840480"/>
            <a:ext cx="2743200" cy="594360"/>
          </a:xfrm>
          <a:prstGeom prst="rect">
            <a:avLst/>
          </a:prstGeom>
          <a:solidFill>
            <a:srgbClr val="734A3B"/>
          </a:solidFill>
          <a:ln w="12700">
            <a:solidFill>
              <a:srgbClr val="734A3B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3337560" y="385876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infrastructure complexity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6172200" y="3840480"/>
            <a:ext cx="2743200" cy="594360"/>
          </a:xfrm>
          <a:prstGeom prst="rect">
            <a:avLst/>
          </a:prstGeom>
          <a:solidFill>
            <a:srgbClr val="734A3B"/>
          </a:solidFill>
          <a:ln w="12700">
            <a:solidFill>
              <a:srgbClr val="734A3B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6263640" y="385876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future microservices migration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A1A0D"/>
          </a:solidFill>
          <a:ln w="12700">
            <a:solidFill>
              <a:srgbClr val="0A1A0D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365760" y="492861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D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Daakye Vendor Space  |  System Architecture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6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22E16"/>
          </a:solidFill>
          <a:ln w="12700">
            <a:solidFill>
              <a:srgbClr val="122E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2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93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 Stack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1188720"/>
            <a:ext cx="411480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EDE5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188720"/>
            <a:ext cx="64008" cy="1572768"/>
          </a:xfrm>
          <a:prstGeom prst="rect">
            <a:avLst/>
          </a:prstGeom>
          <a:solidFill>
            <a:srgbClr val="593F24"/>
          </a:solidFill>
          <a:ln w="12700">
            <a:solidFill>
              <a:srgbClr val="593F2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353312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78408" y="132588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93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76072" y="169164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 ·  Expo  ·  TypeScript  ·  React Navigation  ·  Axios  ·  AsyncStorage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800600" y="1188720"/>
            <a:ext cx="411480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EDE5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00600" y="1188720"/>
            <a:ext cx="64008" cy="1572768"/>
          </a:xfrm>
          <a:prstGeom prst="rect">
            <a:avLst/>
          </a:prstGeom>
          <a:solidFill>
            <a:srgbClr val="734A3B"/>
          </a:solidFill>
          <a:ln w="12700">
            <a:solidFill>
              <a:srgbClr val="734A3B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192" y="1353312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67528" y="132588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34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965192" y="169164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 ·  Express.js  ·  JWT Authentication  ·  Bcrypt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11480" y="2971800"/>
            <a:ext cx="411480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EDE5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11480" y="2971800"/>
            <a:ext cx="64008" cy="1572768"/>
          </a:xfrm>
          <a:prstGeom prst="rect">
            <a:avLst/>
          </a:prstGeom>
          <a:solidFill>
            <a:srgbClr val="122E16"/>
          </a:solidFill>
          <a:ln w="12700">
            <a:solidFill>
              <a:srgbClr val="122E16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3136392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78408" y="310896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2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&amp; SERVICES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576072" y="347472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  ·  Firebase Cloud Messaging  ·  Victory Native (Charts)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800600" y="2971800"/>
            <a:ext cx="411480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EDE5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800600" y="2971800"/>
            <a:ext cx="64008" cy="1572768"/>
          </a:xfrm>
          <a:prstGeom prst="rect">
            <a:avLst/>
          </a:prstGeom>
          <a:solidFill>
            <a:srgbClr val="2C5030"/>
          </a:solidFill>
          <a:ln w="12700">
            <a:solidFill>
              <a:srgbClr val="2C5030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192" y="3136392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367528" y="310896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C5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TOOLS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4965192" y="347472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Studio Code  ·  GitHub  ·  Postman  ·  Figma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22E16"/>
          </a:solidFill>
          <a:ln w="12700">
            <a:solidFill>
              <a:srgbClr val="122E16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365760" y="492861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D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Daakye Vendor Space  |  Tech Stack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593F24"/>
          </a:solidFill>
          <a:ln w="12700">
            <a:solidFill>
              <a:srgbClr val="593F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93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API DESIGN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93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 Design &amp; API Structure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1170432"/>
            <a:ext cx="4023360" cy="3657600"/>
          </a:xfrm>
          <a:prstGeom prst="rect">
            <a:avLst/>
          </a:prstGeom>
          <a:solidFill>
            <a:srgbClr val="E6F4FF"/>
          </a:solidFill>
          <a:ln w="6350">
            <a:solidFill>
              <a:srgbClr val="EDE5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2618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2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COLLECTIONS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645920"/>
            <a:ext cx="38404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5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645920"/>
            <a:ext cx="1005840" cy="658368"/>
          </a:xfrm>
          <a:prstGeom prst="rect">
            <a:avLst/>
          </a:prstGeom>
          <a:solidFill>
            <a:srgbClr val="593F24"/>
          </a:solidFill>
          <a:ln w="12700">
            <a:solidFill>
              <a:srgbClr val="593F2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67335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00200" y="169164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4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name, phone, email, password, role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02920" y="2423160"/>
            <a:ext cx="38404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5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2423160"/>
            <a:ext cx="1005840" cy="658368"/>
          </a:xfrm>
          <a:prstGeom prst="rect">
            <a:avLst/>
          </a:prstGeom>
          <a:solidFill>
            <a:srgbClr val="593F24"/>
          </a:solidFill>
          <a:ln w="12700">
            <a:solidFill>
              <a:srgbClr val="593F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45059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600200" y="246888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4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name, category, price, quantity, lowStockThreshold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2920" y="3200400"/>
            <a:ext cx="38404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5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3200400"/>
            <a:ext cx="1005840" cy="658368"/>
          </a:xfrm>
          <a:prstGeom prst="rect">
            <a:avLst/>
          </a:prstGeom>
          <a:solidFill>
            <a:srgbClr val="593F24"/>
          </a:solidFill>
          <a:ln w="12700">
            <a:solidFill>
              <a:srgbClr val="593F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22783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600200" y="324612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4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products, totalAmount, date, soldBy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02920" y="3977640"/>
            <a:ext cx="38404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5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" y="3977640"/>
            <a:ext cx="1005840" cy="658368"/>
          </a:xfrm>
          <a:prstGeom prst="rect">
            <a:avLst/>
          </a:prstGeom>
          <a:solidFill>
            <a:srgbClr val="593F24"/>
          </a:solidFill>
          <a:ln w="12700">
            <a:solidFill>
              <a:srgbClr val="593F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00507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600200" y="402336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4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message, productId, status, createdAt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09160" y="1170432"/>
            <a:ext cx="4023360" cy="3657600"/>
          </a:xfrm>
          <a:prstGeom prst="rect">
            <a:avLst/>
          </a:prstGeom>
          <a:solidFill>
            <a:srgbClr val="F5F0EB"/>
          </a:solidFill>
          <a:ln w="6350">
            <a:solidFill>
              <a:srgbClr val="EDE5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00600" y="12618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2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00600" y="1664208"/>
            <a:ext cx="822960" cy="502920"/>
          </a:xfrm>
          <a:prstGeom prst="rect">
            <a:avLst/>
          </a:prstGeom>
          <a:solidFill>
            <a:srgbClr val="734A3B"/>
          </a:solidFill>
          <a:ln w="12700">
            <a:solidFill>
              <a:srgbClr val="734A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18888" y="1682496"/>
            <a:ext cx="7772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715000" y="1682496"/>
            <a:ext cx="292608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/auth/register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715000" y="1915668"/>
            <a:ext cx="292608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/auth/login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800600" y="2231136"/>
            <a:ext cx="822960" cy="969264"/>
          </a:xfrm>
          <a:prstGeom prst="rect">
            <a:avLst/>
          </a:prstGeom>
          <a:solidFill>
            <a:srgbClr val="122E16"/>
          </a:solidFill>
          <a:ln w="12700">
            <a:solidFill>
              <a:srgbClr val="122E1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18888" y="2249424"/>
            <a:ext cx="7772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715000" y="2249424"/>
            <a:ext cx="292608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/products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715000" y="2482596"/>
            <a:ext cx="292608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/products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715000" y="2715768"/>
            <a:ext cx="292608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 /products/:id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715000" y="2948940"/>
            <a:ext cx="292608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/products/:id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800600" y="3264408"/>
            <a:ext cx="822960" cy="969264"/>
          </a:xfrm>
          <a:prstGeom prst="rect">
            <a:avLst/>
          </a:prstGeom>
          <a:solidFill>
            <a:srgbClr val="593F24"/>
          </a:solidFill>
          <a:ln w="12700">
            <a:solidFill>
              <a:srgbClr val="593F2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18888" y="3282696"/>
            <a:ext cx="7772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715000" y="3282696"/>
            <a:ext cx="292608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/sales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715000" y="3515868"/>
            <a:ext cx="292608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/sales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715000" y="3749040"/>
            <a:ext cx="292608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 /sales/:id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715000" y="3982212"/>
            <a:ext cx="292608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/sales/:id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800600" y="4297680"/>
            <a:ext cx="822960" cy="502920"/>
          </a:xfrm>
          <a:prstGeom prst="rect">
            <a:avLst/>
          </a:prstGeom>
          <a:solidFill>
            <a:srgbClr val="2C5030"/>
          </a:solidFill>
          <a:ln w="12700">
            <a:solidFill>
              <a:srgbClr val="2C503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18888" y="4315968"/>
            <a:ext cx="7772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715000" y="4315968"/>
            <a:ext cx="292608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/analytics/revenue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715000" y="4549140"/>
            <a:ext cx="292608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/analytics/top-products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593F24"/>
          </a:solidFill>
          <a:ln w="12700">
            <a:solidFill>
              <a:srgbClr val="593F2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92861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Daakye Vendor Space  |  Database &amp; API Design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593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734A3B"/>
          </a:solidFill>
          <a:ln w="12700">
            <a:solidFill>
              <a:srgbClr val="734A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D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ROADMAP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7-Phase Roadmap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21208" y="1673352"/>
            <a:ext cx="1014984" cy="36576"/>
          </a:xfrm>
          <a:prstGeom prst="rect">
            <a:avLst/>
          </a:prstGeom>
          <a:solidFill>
            <a:srgbClr val="BDB0A8">
              <a:alpha val="40000"/>
            </a:srgbClr>
          </a:solidFill>
          <a:ln w="12700">
            <a:solidFill>
              <a:srgbClr val="BDB0A8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600200"/>
            <a:ext cx="201168" cy="201168"/>
          </a:xfrm>
          <a:prstGeom prst="ellipse">
            <a:avLst/>
          </a:prstGeom>
          <a:solidFill>
            <a:srgbClr val="734A3B"/>
          </a:solidFill>
          <a:ln w="12700">
            <a:solidFill>
              <a:srgbClr val="BDB0A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" y="1947672"/>
            <a:ext cx="1417320" cy="2331720"/>
          </a:xfrm>
          <a:prstGeom prst="rect">
            <a:avLst/>
          </a:prstGeom>
          <a:solidFill>
            <a:srgbClr val="734A3B"/>
          </a:solidFill>
          <a:ln w="6350">
            <a:solidFill>
              <a:srgbClr val="EDE5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" y="201168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DB0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008" y="2377440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Planning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" y="3081528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BD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Requirements, workflow mapping, feature prioritization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737360" y="1673352"/>
            <a:ext cx="1014984" cy="36576"/>
          </a:xfrm>
          <a:prstGeom prst="rect">
            <a:avLst/>
          </a:prstGeom>
          <a:solidFill>
            <a:srgbClr val="BDB0A8">
              <a:alpha val="40000"/>
            </a:srgbClr>
          </a:solidFill>
          <a:ln w="12700">
            <a:solidFill>
              <a:srgbClr val="BDB0A8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36192" y="1600200"/>
            <a:ext cx="201168" cy="201168"/>
          </a:xfrm>
          <a:prstGeom prst="ellipse">
            <a:avLst/>
          </a:prstGeom>
          <a:solidFill>
            <a:srgbClr val="734A3B"/>
          </a:solidFill>
          <a:ln w="12700">
            <a:solidFill>
              <a:srgbClr val="BDB0A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34440" y="1947672"/>
            <a:ext cx="1417320" cy="2331720"/>
          </a:xfrm>
          <a:prstGeom prst="rect">
            <a:avLst/>
          </a:prstGeom>
          <a:solidFill>
            <a:srgbClr val="734A3B"/>
          </a:solidFill>
          <a:ln w="6350">
            <a:solidFill>
              <a:srgbClr val="EDE5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280160" y="201168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DB0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280160" y="2377440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Design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280160" y="3081528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BD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Wireframes, mobile layouts, navigation flow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953512" y="1673352"/>
            <a:ext cx="1014984" cy="36576"/>
          </a:xfrm>
          <a:prstGeom prst="rect">
            <a:avLst/>
          </a:prstGeom>
          <a:solidFill>
            <a:srgbClr val="BDB0A8">
              <a:alpha val="40000"/>
            </a:srgbClr>
          </a:solidFill>
          <a:ln w="12700">
            <a:solidFill>
              <a:srgbClr val="BDB0A8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52344" y="1600200"/>
            <a:ext cx="201168" cy="201168"/>
          </a:xfrm>
          <a:prstGeom prst="ellipse">
            <a:avLst/>
          </a:prstGeom>
          <a:solidFill>
            <a:srgbClr val="734A3B"/>
          </a:solidFill>
          <a:ln w="12700">
            <a:solidFill>
              <a:srgbClr val="BDB0A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450592" y="1947672"/>
            <a:ext cx="1417320" cy="2331720"/>
          </a:xfrm>
          <a:prstGeom prst="rect">
            <a:avLst/>
          </a:prstGeom>
          <a:solidFill>
            <a:srgbClr val="734A3B"/>
          </a:solidFill>
          <a:ln w="6350">
            <a:solidFill>
              <a:srgbClr val="EDE5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496312" y="201168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DB0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2496312" y="2377440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Development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496312" y="3081528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BD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Inventory, Sales APIs &amp; Notification logic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169664" y="1673352"/>
            <a:ext cx="1014984" cy="36576"/>
          </a:xfrm>
          <a:prstGeom prst="rect">
            <a:avLst/>
          </a:prstGeom>
          <a:solidFill>
            <a:srgbClr val="BDB0A8">
              <a:alpha val="40000"/>
            </a:srgbClr>
          </a:solidFill>
          <a:ln w="12700">
            <a:solidFill>
              <a:srgbClr val="BDB0A8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968496" y="1600200"/>
            <a:ext cx="201168" cy="201168"/>
          </a:xfrm>
          <a:prstGeom prst="ellipse">
            <a:avLst/>
          </a:prstGeom>
          <a:solidFill>
            <a:srgbClr val="734A3B"/>
          </a:solidFill>
          <a:ln w="12700">
            <a:solidFill>
              <a:srgbClr val="BDB0A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66744" y="1947672"/>
            <a:ext cx="1417320" cy="2331720"/>
          </a:xfrm>
          <a:prstGeom prst="rect">
            <a:avLst/>
          </a:prstGeom>
          <a:solidFill>
            <a:srgbClr val="734A3B"/>
          </a:solidFill>
          <a:ln w="6350">
            <a:solidFill>
              <a:srgbClr val="EDE5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712464" y="201168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DB0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712464" y="2377440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Development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712464" y="3081528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BD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setup, screens, API integration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385816" y="1673352"/>
            <a:ext cx="1014984" cy="36576"/>
          </a:xfrm>
          <a:prstGeom prst="rect">
            <a:avLst/>
          </a:prstGeom>
          <a:solidFill>
            <a:srgbClr val="BDB0A8">
              <a:alpha val="40000"/>
            </a:srgbClr>
          </a:solidFill>
          <a:ln w="12700">
            <a:solidFill>
              <a:srgbClr val="BDB0A8">
                <a:alpha val="4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184648" y="1600200"/>
            <a:ext cx="201168" cy="201168"/>
          </a:xfrm>
          <a:prstGeom prst="ellipse">
            <a:avLst/>
          </a:prstGeom>
          <a:solidFill>
            <a:srgbClr val="734A3B"/>
          </a:solidFill>
          <a:ln w="12700">
            <a:solidFill>
              <a:srgbClr val="BDB0A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82896" y="1947672"/>
            <a:ext cx="1417320" cy="2331720"/>
          </a:xfrm>
          <a:prstGeom prst="rect">
            <a:avLst/>
          </a:prstGeom>
          <a:solidFill>
            <a:srgbClr val="734A3B"/>
          </a:solidFill>
          <a:ln w="6350">
            <a:solidFill>
              <a:srgbClr val="EDE5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928616" y="201168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DB0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4928616" y="2377440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Notifs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928616" y="3081528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BD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Charts, revenue metrics, push notifications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601968" y="1673352"/>
            <a:ext cx="1014984" cy="36576"/>
          </a:xfrm>
          <a:prstGeom prst="rect">
            <a:avLst/>
          </a:prstGeom>
          <a:solidFill>
            <a:srgbClr val="BDB0A8">
              <a:alpha val="40000"/>
            </a:srgbClr>
          </a:solidFill>
          <a:ln w="12700">
            <a:solidFill>
              <a:srgbClr val="BDB0A8">
                <a:alpha val="4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00800" y="1600200"/>
            <a:ext cx="201168" cy="201168"/>
          </a:xfrm>
          <a:prstGeom prst="ellipse">
            <a:avLst/>
          </a:prstGeom>
          <a:solidFill>
            <a:srgbClr val="734A3B"/>
          </a:solidFill>
          <a:ln w="12700">
            <a:solidFill>
              <a:srgbClr val="BDB0A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099048" y="1947672"/>
            <a:ext cx="1417320" cy="2331720"/>
          </a:xfrm>
          <a:prstGeom prst="rect">
            <a:avLst/>
          </a:prstGeom>
          <a:solidFill>
            <a:srgbClr val="734A3B"/>
          </a:solidFill>
          <a:ln w="6350">
            <a:solidFill>
              <a:srgbClr val="EDE5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144768" y="201168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DB0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6144768" y="2377440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Optimization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144768" y="3081528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BD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&amp; device testing, bug fixing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7616952" y="1600200"/>
            <a:ext cx="201168" cy="201168"/>
          </a:xfrm>
          <a:prstGeom prst="ellipse">
            <a:avLst/>
          </a:prstGeom>
          <a:solidFill>
            <a:srgbClr val="734A3B"/>
          </a:solidFill>
          <a:ln w="12700">
            <a:solidFill>
              <a:srgbClr val="BDB0A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315200" y="1947672"/>
            <a:ext cx="1417320" cy="2331720"/>
          </a:xfrm>
          <a:prstGeom prst="rect">
            <a:avLst/>
          </a:prstGeom>
          <a:solidFill>
            <a:srgbClr val="734A3B"/>
          </a:solidFill>
          <a:ln w="6350">
            <a:solidFill>
              <a:srgbClr val="EDE5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7360920" y="201168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DB0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7360920" y="2377440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Deployment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360920" y="3081528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BD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Real-user testing, vendor feedback, UX refinement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11480" y="461772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D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10 Weeks to MVP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A1A0D"/>
          </a:solidFill>
          <a:ln w="12700">
            <a:solidFill>
              <a:srgbClr val="0A1A0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5760" y="492861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D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Daakye Vendor Space  |  Implementation Roadmap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6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22E16"/>
          </a:solidFill>
          <a:ln w="12700">
            <a:solidFill>
              <a:srgbClr val="122E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2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&amp; BUDGET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93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Timeline &amp; Budget Estimate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1170432"/>
            <a:ext cx="402336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DE5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2618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2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TO MVP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66420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3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&amp; Design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017520" y="1709928"/>
            <a:ext cx="1188720" cy="256032"/>
          </a:xfrm>
          <a:prstGeom prst="rect">
            <a:avLst/>
          </a:prstGeom>
          <a:solidFill>
            <a:srgbClr val="734A3B"/>
          </a:solidFill>
          <a:ln w="12700">
            <a:solidFill>
              <a:srgbClr val="734A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35808" y="1709928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weeks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26771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3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Development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017520" y="2313432"/>
            <a:ext cx="1188720" cy="256032"/>
          </a:xfrm>
          <a:prstGeom prst="rect">
            <a:avLst/>
          </a:prstGeom>
          <a:solidFill>
            <a:srgbClr val="734A3B"/>
          </a:solidFill>
          <a:ln w="12700">
            <a:solidFill>
              <a:srgbClr val="734A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35808" y="2313432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weeks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287121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3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Development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017520" y="2916936"/>
            <a:ext cx="1188720" cy="256032"/>
          </a:xfrm>
          <a:prstGeom prst="rect">
            <a:avLst/>
          </a:prstGeom>
          <a:solidFill>
            <a:srgbClr val="734A3B"/>
          </a:solidFill>
          <a:ln w="12700">
            <a:solidFill>
              <a:srgbClr val="734A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35808" y="2916936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weeks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34747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3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Optimization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017520" y="3520440"/>
            <a:ext cx="1188720" cy="256032"/>
          </a:xfrm>
          <a:prstGeom prst="rect">
            <a:avLst/>
          </a:prstGeom>
          <a:solidFill>
            <a:srgbClr val="734A3B"/>
          </a:solidFill>
          <a:ln w="12700">
            <a:solidFill>
              <a:srgbClr val="734A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35808" y="3520440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weeks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407822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3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Testing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017520" y="4123944"/>
            <a:ext cx="1188720" cy="256032"/>
          </a:xfrm>
          <a:prstGeom prst="rect">
            <a:avLst/>
          </a:prstGeom>
          <a:solidFill>
            <a:srgbClr val="734A3B"/>
          </a:solidFill>
          <a:ln w="12700">
            <a:solidFill>
              <a:srgbClr val="734A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35808" y="4123944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weeks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" y="4590288"/>
            <a:ext cx="3840480" cy="73152"/>
          </a:xfrm>
          <a:prstGeom prst="rect">
            <a:avLst/>
          </a:prstGeom>
          <a:solidFill>
            <a:srgbClr val="734A3B"/>
          </a:solidFill>
          <a:ln w="12700">
            <a:solidFill>
              <a:srgbClr val="734A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6634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93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Total: ~10 Weeks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09160" y="1170432"/>
            <a:ext cx="4023360" cy="3566160"/>
          </a:xfrm>
          <a:prstGeom prst="rect">
            <a:avLst/>
          </a:prstGeom>
          <a:solidFill>
            <a:srgbClr val="593F24"/>
          </a:solidFill>
          <a:ln w="6350">
            <a:solidFill>
              <a:srgbClr val="EDE5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00600" y="12618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D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BUDGET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00600" y="166420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Tools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315200" y="16642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D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00600" y="20848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315200" y="208483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D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00600" y="250545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(Atlas)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315200" y="2505456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D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00600" y="29260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Notifications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315200" y="29260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D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00600" y="334670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/ Expo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315200" y="3346704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D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800600" y="376732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Play Console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315200" y="376732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D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~$25 one-time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800600" y="418795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Name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315200" y="418795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D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~$10–20/year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800600" y="4572000"/>
            <a:ext cx="3840480" cy="36576"/>
          </a:xfrm>
          <a:prstGeom prst="rect">
            <a:avLst/>
          </a:prstGeom>
          <a:solidFill>
            <a:srgbClr val="BDB0A8"/>
          </a:solidFill>
          <a:ln w="12700">
            <a:solidFill>
              <a:srgbClr val="BDB0A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00600" y="46634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MVP Budget: ~$0 – $50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22E16"/>
          </a:solidFill>
          <a:ln w="12700">
            <a:solidFill>
              <a:srgbClr val="122E1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92861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D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Daakye Vendor Space  |  Timeline &amp; Budget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734A3B"/>
          </a:solidFill>
          <a:ln w="12700">
            <a:solidFill>
              <a:srgbClr val="734A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34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93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Next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1143000"/>
            <a:ext cx="2651760" cy="1024128"/>
          </a:xfrm>
          <a:prstGeom prst="rect">
            <a:avLst/>
          </a:prstGeom>
          <a:solidFill>
            <a:srgbClr val="E6F4FF"/>
          </a:solidFill>
          <a:ln w="6350">
            <a:solidFill>
              <a:srgbClr val="EDE5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399032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32588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3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 Sync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91840" y="1143000"/>
            <a:ext cx="2651760" cy="1024128"/>
          </a:xfrm>
          <a:prstGeom prst="rect">
            <a:avLst/>
          </a:prstGeom>
          <a:solidFill>
            <a:srgbClr val="E6F4FF"/>
          </a:solidFill>
          <a:ln w="6350">
            <a:solidFill>
              <a:srgbClr val="EDE5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6432" y="1399032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886200" y="132588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3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Barcode Scanning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172200" y="1143000"/>
            <a:ext cx="2651760" cy="1024128"/>
          </a:xfrm>
          <a:prstGeom prst="rect">
            <a:avLst/>
          </a:prstGeom>
          <a:solidFill>
            <a:srgbClr val="E6F4FF"/>
          </a:solidFill>
          <a:ln w="6350">
            <a:solidFill>
              <a:srgbClr val="EDE5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792" y="1399032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766560" y="132588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3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Money Integration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411480" y="2350008"/>
            <a:ext cx="2651760" cy="1024128"/>
          </a:xfrm>
          <a:prstGeom prst="rect">
            <a:avLst/>
          </a:prstGeom>
          <a:solidFill>
            <a:srgbClr val="E6F4FF"/>
          </a:solidFill>
          <a:ln w="6350">
            <a:solidFill>
              <a:srgbClr val="EDE5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2606040"/>
            <a:ext cx="320040" cy="32004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05840" y="2532888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3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Stock Forecasting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3291840" y="2350008"/>
            <a:ext cx="2651760" cy="1024128"/>
          </a:xfrm>
          <a:prstGeom prst="rect">
            <a:avLst/>
          </a:prstGeom>
          <a:solidFill>
            <a:srgbClr val="E6F4FF"/>
          </a:solidFill>
          <a:ln w="6350">
            <a:solidFill>
              <a:srgbClr val="EDE5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6432" y="2606040"/>
            <a:ext cx="320040" cy="32004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886200" y="2532888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3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Voice-assisted Sales</a:t>
            </a:r>
            <a:endParaRPr lang="en-US" sz="1200" dirty="0"/>
          </a:p>
        </p:txBody>
      </p:sp>
      <p:sp>
        <p:nvSpPr>
          <p:cNvPr id="20" name="Shape 13"/>
          <p:cNvSpPr/>
          <p:nvPr/>
        </p:nvSpPr>
        <p:spPr>
          <a:xfrm>
            <a:off x="6172200" y="2350008"/>
            <a:ext cx="2651760" cy="1024128"/>
          </a:xfrm>
          <a:prstGeom prst="rect">
            <a:avLst/>
          </a:prstGeom>
          <a:solidFill>
            <a:srgbClr val="E6F4FF"/>
          </a:solidFill>
          <a:ln w="6350">
            <a:solidFill>
              <a:srgbClr val="EDE5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6792" y="2606040"/>
            <a:ext cx="320040" cy="32004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766560" y="2532888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3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Language Support</a:t>
            </a:r>
            <a:endParaRPr lang="en-US" sz="1200" dirty="0"/>
          </a:p>
        </p:txBody>
      </p:sp>
      <p:sp>
        <p:nvSpPr>
          <p:cNvPr id="23" name="Shape 15"/>
          <p:cNvSpPr/>
          <p:nvPr/>
        </p:nvSpPr>
        <p:spPr>
          <a:xfrm>
            <a:off x="411480" y="3557016"/>
            <a:ext cx="2651760" cy="1024128"/>
          </a:xfrm>
          <a:prstGeom prst="rect">
            <a:avLst/>
          </a:prstGeom>
          <a:solidFill>
            <a:srgbClr val="E6F4FF"/>
          </a:solidFill>
          <a:ln w="6350">
            <a:solidFill>
              <a:srgbClr val="EDE5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6072" y="3813048"/>
            <a:ext cx="320040" cy="32004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1005840" y="3739896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3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Management</a:t>
            </a:r>
            <a:endParaRPr lang="en-US" sz="1200" dirty="0"/>
          </a:p>
        </p:txBody>
      </p:sp>
      <p:sp>
        <p:nvSpPr>
          <p:cNvPr id="26" name="Shape 17"/>
          <p:cNvSpPr/>
          <p:nvPr/>
        </p:nvSpPr>
        <p:spPr>
          <a:xfrm>
            <a:off x="3291840" y="3557016"/>
            <a:ext cx="2651760" cy="1024128"/>
          </a:xfrm>
          <a:prstGeom prst="rect">
            <a:avLst/>
          </a:prstGeom>
          <a:solidFill>
            <a:srgbClr val="E6F4FF"/>
          </a:solidFill>
          <a:ln w="6350">
            <a:solidFill>
              <a:srgbClr val="EDE5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56432" y="3813048"/>
            <a:ext cx="320040" cy="320040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3886200" y="3739896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3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Multi-branch Management</a:t>
            </a:r>
            <a:endParaRPr lang="en-US" sz="1200" dirty="0"/>
          </a:p>
        </p:txBody>
      </p:sp>
      <p:sp>
        <p:nvSpPr>
          <p:cNvPr id="29" name="Shape 19"/>
          <p:cNvSpPr/>
          <p:nvPr/>
        </p:nvSpPr>
        <p:spPr>
          <a:xfrm>
            <a:off x="6172200" y="3557016"/>
            <a:ext cx="2651760" cy="1024128"/>
          </a:xfrm>
          <a:prstGeom prst="rect">
            <a:avLst/>
          </a:prstGeom>
          <a:solidFill>
            <a:srgbClr val="E6F4FF"/>
          </a:solidFill>
          <a:ln w="6350">
            <a:solidFill>
              <a:srgbClr val="EDE5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36792" y="3813048"/>
            <a:ext cx="320040" cy="320040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6766560" y="3739896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3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Receipt Integration</a:t>
            </a:r>
            <a:endParaRPr lang="en-US" sz="1200" dirty="0"/>
          </a:p>
        </p:txBody>
      </p:sp>
      <p:sp>
        <p:nvSpPr>
          <p:cNvPr id="32" name="Shape 21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734A3B"/>
          </a:solidFill>
          <a:ln w="12700">
            <a:solidFill>
              <a:srgbClr val="734A3B"/>
            </a:solidFill>
            <a:prstDash val="solid"/>
          </a:ln>
        </p:spPr>
      </p:sp>
      <p:sp>
        <p:nvSpPr>
          <p:cNvPr id="33" name="Text 22"/>
          <p:cNvSpPr/>
          <p:nvPr/>
        </p:nvSpPr>
        <p:spPr>
          <a:xfrm>
            <a:off x="365760" y="492861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Daakye Vendor Space  |  Future Enhancements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2E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734A3B"/>
          </a:solidFill>
          <a:ln w="12700">
            <a:solidFill>
              <a:srgbClr val="734A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D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Daakye Vendor Space bridges the digital management gap in Ghana's informal retail sector — delivering a simple, scalable, and mobile-first solution that empowers vendors with real digital tools.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240280"/>
            <a:ext cx="1508760" cy="1188720"/>
          </a:xfrm>
          <a:prstGeom prst="rect">
            <a:avLst/>
          </a:prstGeom>
          <a:solidFill>
            <a:srgbClr val="734A3B"/>
          </a:solidFill>
          <a:ln w="12700">
            <a:solidFill>
              <a:srgbClr val="734A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30352" y="228600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Design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48840" y="2240280"/>
            <a:ext cx="1508760" cy="1188720"/>
          </a:xfrm>
          <a:prstGeom prst="rect">
            <a:avLst/>
          </a:prstGeom>
          <a:solidFill>
            <a:srgbClr val="734A3B"/>
          </a:solidFill>
          <a:ln w="12700">
            <a:solidFill>
              <a:srgbClr val="734A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221992" y="228600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Architecture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840480" y="2240280"/>
            <a:ext cx="1508760" cy="1188720"/>
          </a:xfrm>
          <a:prstGeom prst="rect">
            <a:avLst/>
          </a:prstGeom>
          <a:solidFill>
            <a:srgbClr val="734A3B"/>
          </a:solidFill>
          <a:ln w="12700">
            <a:solidFill>
              <a:srgbClr val="734A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913632" y="228600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Offline-capable Planning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532120" y="2240280"/>
            <a:ext cx="1508760" cy="1188720"/>
          </a:xfrm>
          <a:prstGeom prst="rect">
            <a:avLst/>
          </a:prstGeom>
          <a:solidFill>
            <a:srgbClr val="734A3B"/>
          </a:solidFill>
          <a:ln w="12700">
            <a:solidFill>
              <a:srgbClr val="734A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05272" y="228600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Intuitive Workflows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223760" y="2240280"/>
            <a:ext cx="1508760" cy="1188720"/>
          </a:xfrm>
          <a:prstGeom prst="rect">
            <a:avLst/>
          </a:prstGeom>
          <a:solidFill>
            <a:srgbClr val="734A3B"/>
          </a:solidFill>
          <a:ln w="12700">
            <a:solidFill>
              <a:srgbClr val="734A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296912" y="228600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System Design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611880"/>
            <a:ext cx="164592" cy="164592"/>
          </a:xfrm>
          <a:prstGeom prst="ellipse">
            <a:avLst/>
          </a:prstGeom>
          <a:solidFill>
            <a:srgbClr val="BDB0A8"/>
          </a:solidFill>
          <a:ln w="12700">
            <a:solidFill>
              <a:srgbClr val="BDB0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5935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Management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606040" y="3611880"/>
            <a:ext cx="164592" cy="164592"/>
          </a:xfrm>
          <a:prstGeom prst="ellipse">
            <a:avLst/>
          </a:prstGeom>
          <a:solidFill>
            <a:srgbClr val="BDB0A8"/>
          </a:solidFill>
          <a:ln w="12700">
            <a:solidFill>
              <a:srgbClr val="BDB0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34640" y="35935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Tracking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3611880"/>
            <a:ext cx="164592" cy="164592"/>
          </a:xfrm>
          <a:prstGeom prst="ellipse">
            <a:avLst/>
          </a:prstGeom>
          <a:solidFill>
            <a:srgbClr val="BDB0A8"/>
          </a:solidFill>
          <a:ln w="12700">
            <a:solidFill>
              <a:srgbClr val="BDB0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35935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Analytics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720840" y="3611880"/>
            <a:ext cx="164592" cy="164592"/>
          </a:xfrm>
          <a:prstGeom prst="ellipse">
            <a:avLst/>
          </a:prstGeom>
          <a:solidFill>
            <a:srgbClr val="BDB0A8"/>
          </a:solidFill>
          <a:ln w="12700">
            <a:solidFill>
              <a:srgbClr val="BDB0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49440" y="35935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Inclusion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39776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D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strong foundation for future expansion into fintech, intelligent analytics, and African digital commerce infrastructure.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734A3B"/>
          </a:solidFill>
          <a:ln w="12700">
            <a:solidFill>
              <a:srgbClr val="734A3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DAAKYE VENDOR SPACE  |  Digitizing Ghanaian Markets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2026-05-13T22:19:26Z</dcterms:created>
  <dcterms:modified xsi:type="dcterms:W3CDTF">2026-05-13T22:19:26Z</dcterms:modified>
</cp:coreProperties>
</file>